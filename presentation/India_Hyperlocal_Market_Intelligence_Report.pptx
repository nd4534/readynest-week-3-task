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Digital Presence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74C3C"/>
              </a:solidFill>
              <a:ln w="25400" cap="flat">
                <a:solidFill>
                  <a:srgbClr val="0C1930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6C88-48A4-94BE-126BBB25F1FC}"/>
              </c:ext>
            </c:extLst>
          </c:dPt>
          <c:dPt>
            <c:idx val="1"/>
            <c:bubble3D val="0"/>
            <c:spPr>
              <a:solidFill>
                <a:srgbClr val="2ECC71"/>
              </a:solidFill>
              <a:ln w="25400" cap="flat">
                <a:solidFill>
                  <a:srgbClr val="0C1930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6C88-48A4-94BE-126BBB25F1F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C88-48A4-94BE-126BBB25F1F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C88-48A4-94BE-126BBB25F1F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 Website</c:v>
                </c:pt>
                <c:pt idx="1">
                  <c:v>Has Website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51.5</c:v>
                </c:pt>
                <c:pt idx="1">
                  <c:v>48.5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C88-48A4-94BE-126BBB25F1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solidFill>
          <a:srgbClr val="0C193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FB0C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C193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No Website</c:v>
                </c:pt>
              </c:strCache>
            </c:strRef>
          </c:tx>
          <c:spPr>
            <a:solidFill>
              <a:srgbClr val="2ECC71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ECC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B5B-46AD-82ED-D866BD49D1B5}"/>
              </c:ext>
            </c:extLst>
          </c:dPt>
          <c:dPt>
            <c:idx val="1"/>
            <c:invertIfNegative val="0"/>
            <c:bubble3D val="0"/>
            <c:spPr>
              <a:solidFill>
                <a:srgbClr val="49C3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B5B-46AD-82ED-D866BD49D1B5}"/>
              </c:ext>
            </c:extLst>
          </c:dPt>
          <c:dPt>
            <c:idx val="2"/>
            <c:invertIfNegative val="0"/>
            <c:bubble3D val="0"/>
            <c:spPr>
              <a:solidFill>
                <a:srgbClr val="64B97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B5B-46AD-82ED-D866BD49D1B5}"/>
              </c:ext>
            </c:extLst>
          </c:dPt>
          <c:dPt>
            <c:idx val="3"/>
            <c:invertIfNegative val="0"/>
            <c:bubble3D val="0"/>
            <c:spPr>
              <a:solidFill>
                <a:srgbClr val="7FB07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B5B-46AD-82ED-D866BD49D1B5}"/>
              </c:ext>
            </c:extLst>
          </c:dPt>
          <c:dPt>
            <c:idx val="4"/>
            <c:invertIfNegative val="0"/>
            <c:bubble3D val="0"/>
            <c:spPr>
              <a:solidFill>
                <a:srgbClr val="9AA67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B5B-46AD-82ED-D866BD49D1B5}"/>
              </c:ext>
            </c:extLst>
          </c:dPt>
          <c:dPt>
            <c:idx val="5"/>
            <c:invertIfNegative val="0"/>
            <c:bubble3D val="0"/>
            <c:spPr>
              <a:solidFill>
                <a:srgbClr val="B59D7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B5B-46AD-82ED-D866BD49D1B5}"/>
              </c:ext>
            </c:extLst>
          </c:dPt>
          <c:dPt>
            <c:idx val="6"/>
            <c:invertIfNegative val="0"/>
            <c:bubble3D val="0"/>
            <c:spPr>
              <a:solidFill>
                <a:srgbClr val="D0936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5B5B-46AD-82ED-D866BD49D1B5}"/>
              </c:ext>
            </c:extLst>
          </c:dPt>
          <c:dPt>
            <c:idx val="7"/>
            <c:invertIfNegative val="0"/>
            <c:bubble3D val="0"/>
            <c:spPr>
              <a:solidFill>
                <a:srgbClr val="EB8A6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5B5B-46AD-82ED-D866BD49D1B5}"/>
              </c:ext>
            </c:extLst>
          </c:dPt>
          <c:dPt>
            <c:idx val="8"/>
            <c:invertIfNegative val="0"/>
            <c:bubble3D val="0"/>
            <c:spPr>
              <a:solidFill>
                <a:srgbClr val="EA816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5B5B-46AD-82ED-D866BD49D1B5}"/>
              </c:ext>
            </c:extLst>
          </c:dPt>
          <c:dPt>
            <c:idx val="9"/>
            <c:invertIfNegative val="0"/>
            <c:bubble3D val="0"/>
            <c:spPr>
              <a:solidFill>
                <a:srgbClr val="EA78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5B5B-46AD-82ED-D866BD49D1B5}"/>
              </c:ext>
            </c:extLst>
          </c:dPt>
          <c:dPt>
            <c:idx val="10"/>
            <c:invertIfNegative val="0"/>
            <c:bubble3D val="0"/>
            <c:spPr>
              <a:solidFill>
                <a:srgbClr val="E96F5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5B5B-46AD-82ED-D866BD49D1B5}"/>
              </c:ext>
            </c:extLst>
          </c:dPt>
          <c:dPt>
            <c:idx val="11"/>
            <c:invertIfNegative val="0"/>
            <c:bubble3D val="0"/>
            <c:spPr>
              <a:solidFill>
                <a:srgbClr val="E967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5B5B-46AD-82ED-D866BD49D1B5}"/>
              </c:ext>
            </c:extLst>
          </c:dPt>
          <c:dPt>
            <c:idx val="12"/>
            <c:invertIfNegative val="0"/>
            <c:bubble3D val="0"/>
            <c:spPr>
              <a:solidFill>
                <a:srgbClr val="E85E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9-5B5B-46AD-82ED-D866BD49D1B5}"/>
              </c:ext>
            </c:extLst>
          </c:dPt>
          <c:dPt>
            <c:idx val="13"/>
            <c:invertIfNegative val="0"/>
            <c:bubble3D val="0"/>
            <c:spPr>
              <a:solidFill>
                <a:srgbClr val="E8554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B-5B5B-46AD-82ED-D866BD49D1B5}"/>
              </c:ext>
            </c:extLst>
          </c:dPt>
          <c:dPt>
            <c:idx val="14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D-5B5B-46AD-82ED-D866BD49D1B5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Sheet1!$A$2:$A$16</c:f>
              <c:strCache>
                <c:ptCount val="15"/>
                <c:pt idx="0">
                  <c:v>Gym</c:v>
                </c:pt>
                <c:pt idx="1">
                  <c:v>Biryani Restaurant</c:v>
                </c:pt>
                <c:pt idx="2">
                  <c:v>Pharmacy</c:v>
                </c:pt>
                <c:pt idx="3">
                  <c:v>Indian Restaurant</c:v>
                </c:pt>
                <c:pt idx="4">
                  <c:v>Punjabi Restaurant</c:v>
                </c:pt>
                <c:pt idx="5">
                  <c:v>Car Repair And Maintenance Service</c:v>
                </c:pt>
                <c:pt idx="6">
                  <c:v>Baby Clothing Store</c:v>
                </c:pt>
                <c:pt idx="7">
                  <c:v>Fast Food Restaurant</c:v>
                </c:pt>
                <c:pt idx="8">
                  <c:v>Hair Salon</c:v>
                </c:pt>
                <c:pt idx="9">
                  <c:v>Internet Cafe</c:v>
                </c:pt>
                <c:pt idx="10">
                  <c:v>Food Court</c:v>
                </c:pt>
                <c:pt idx="11">
                  <c:v>Rajasthani Restaurant</c:v>
                </c:pt>
                <c:pt idx="12">
                  <c:v>Homeopathic Pharmacy</c:v>
                </c:pt>
                <c:pt idx="13">
                  <c:v>Non Vegetarian Restaurant</c:v>
                </c:pt>
                <c:pt idx="14">
                  <c:v>Andhra Restaurant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61.6</c:v>
                </c:pt>
                <c:pt idx="1">
                  <c:v>62.6</c:v>
                </c:pt>
                <c:pt idx="2">
                  <c:v>67.099999999999994</c:v>
                </c:pt>
                <c:pt idx="3">
                  <c:v>67.400000000000006</c:v>
                </c:pt>
                <c:pt idx="4">
                  <c:v>69</c:v>
                </c:pt>
                <c:pt idx="5">
                  <c:v>69.3</c:v>
                </c:pt>
                <c:pt idx="6">
                  <c:v>72.599999999999994</c:v>
                </c:pt>
                <c:pt idx="7">
                  <c:v>75.2</c:v>
                </c:pt>
                <c:pt idx="8">
                  <c:v>79</c:v>
                </c:pt>
                <c:pt idx="9">
                  <c:v>80.099999999999994</c:v>
                </c:pt>
                <c:pt idx="10">
                  <c:v>83.2</c:v>
                </c:pt>
                <c:pt idx="11">
                  <c:v>85.6</c:v>
                </c:pt>
                <c:pt idx="12">
                  <c:v>85.7</c:v>
                </c:pt>
                <c:pt idx="13">
                  <c:v>87.3</c:v>
                </c:pt>
                <c:pt idx="14">
                  <c:v>87.5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E-5B5B-46AD-82ED-D866BD49D1B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8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27406E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9FB0C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27406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27406E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C81A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C1930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C193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6165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548640"/>
            <a:ext cx="88900" cy="889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914400"/>
            <a:ext cx="63500" cy="6350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1371600"/>
            <a:ext cx="76200" cy="7620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0" y="1645920"/>
            <a:ext cx="101600" cy="1016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2103120"/>
            <a:ext cx="63500" cy="6350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0" y="2651760"/>
            <a:ext cx="88900" cy="889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8" name="Shape 6"/>
          <p:cNvSpPr/>
          <p:nvPr/>
        </p:nvSpPr>
        <p:spPr>
          <a:xfrm>
            <a:off x="6675120" y="2926080"/>
            <a:ext cx="50800" cy="5080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9" name="Shape 7"/>
          <p:cNvSpPr/>
          <p:nvPr/>
        </p:nvSpPr>
        <p:spPr>
          <a:xfrm>
            <a:off x="8321040" y="3200400"/>
            <a:ext cx="76200" cy="7620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0" y="3657600"/>
            <a:ext cx="63500" cy="635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1" name="Shape 9"/>
          <p:cNvSpPr/>
          <p:nvPr/>
        </p:nvSpPr>
        <p:spPr>
          <a:xfrm>
            <a:off x="7680960" y="4023360"/>
            <a:ext cx="50800" cy="5080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12" name="Shape 10"/>
          <p:cNvSpPr/>
          <p:nvPr/>
        </p:nvSpPr>
        <p:spPr>
          <a:xfrm>
            <a:off x="8503920" y="1188720"/>
            <a:ext cx="50800" cy="50800"/>
          </a:xfrm>
          <a:prstGeom prst="ellipse">
            <a:avLst/>
          </a:prstGeom>
          <a:solidFill>
            <a:srgbClr val="EB8A6F"/>
          </a:solidFill>
          <a:ln/>
        </p:spPr>
      </p:sp>
      <p:sp>
        <p:nvSpPr>
          <p:cNvPr id="13" name="Shape 11"/>
          <p:cNvSpPr/>
          <p:nvPr/>
        </p:nvSpPr>
        <p:spPr>
          <a:xfrm>
            <a:off x="6309360" y="2560320"/>
            <a:ext cx="50800" cy="50800"/>
          </a:xfrm>
          <a:prstGeom prst="ellipse">
            <a:avLst/>
          </a:prstGeom>
          <a:solidFill>
            <a:srgbClr val="EB8A6F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965960"/>
            <a:ext cx="640080" cy="6400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40080" y="12344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 REPORT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21792" y="160020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 Hyperlocal Market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Report</a:t>
            </a:r>
            <a:endParaRPr lang="en-US" sz="4000" dirty="0"/>
          </a:p>
        </p:txBody>
      </p:sp>
      <p:sp>
        <p:nvSpPr>
          <p:cNvPr id="17" name="Text 14"/>
          <p:cNvSpPr/>
          <p:nvPr/>
        </p:nvSpPr>
        <p:spPr>
          <a:xfrm>
            <a:off x="640080" y="31546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B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Cap Gap Analysis Across 21 Urban Commerce Hubs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40080" y="36118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assessment of small-to-medium business web infrastructure.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40080" y="4434840"/>
            <a:ext cx="3108960" cy="0"/>
          </a:xfrm>
          <a:prstGeom prst="line">
            <a:avLst/>
          </a:prstGeom>
          <a:noFill/>
          <a:ln w="12700">
            <a:solidFill>
              <a:srgbClr val="27406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45537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C8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AGENCY GTM &amp; OUTREACH PLANNING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Macro Market Diagnostics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Digital Presence Across Audited Markets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16294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463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51.5%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22128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with NO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website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971800"/>
            <a:ext cx="3657600" cy="1417320"/>
          </a:xfrm>
          <a:prstGeom prst="roundRect">
            <a:avLst>
              <a:gd name="adj" fmla="val 5161"/>
            </a:avLst>
          </a:prstGeom>
          <a:solidFill>
            <a:srgbClr val="16294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30632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48.5%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822960" y="381304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with an ACTIVE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website</a:t>
            </a:r>
            <a:endParaRPr lang="en-US" sz="12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4663440" y="1188720"/>
          <a:ext cx="384048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548640" y="4224528"/>
            <a:ext cx="8046720" cy="18288"/>
          </a:xfrm>
          <a:prstGeom prst="roundRect">
            <a:avLst/>
          </a:prstGeom>
          <a:solidFill>
            <a:srgbClr val="27406E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427939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EB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Takeaway:  </a:t>
            </a:r>
            <a:r>
              <a:rPr lang="en-US" sz="10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half of high-traffic brick-and-mortar operations run entirely on third-party aggregators and platform directories, exposing them to platform algorithm changes and ad-jacking with zero independent digital real estate.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488289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C8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HYPERLOCAL MARKET INTELLIGENCE REPORT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229600" y="488289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8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Opportunity Zones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Area-Wise Digital Deficit Ranking Across 21 Audited Cities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587752" cy="3017520"/>
          </a:xfrm>
          <a:prstGeom prst="roundRect">
            <a:avLst>
              <a:gd name="adj" fmla="val 2827"/>
            </a:avLst>
          </a:prstGeom>
          <a:solidFill>
            <a:srgbClr val="16294C"/>
          </a:solidFill>
          <a:ln/>
          <a:effectLst>
            <a:outerShdw blurRad="1016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481328"/>
            <a:ext cx="128016" cy="128016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417320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· HIGH-FRICTION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9808" y="1737360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8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rate &gt; 60%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49808" y="2103120"/>
            <a:ext cx="2185416" cy="310896"/>
          </a:xfrm>
          <a:prstGeom prst="roundRect">
            <a:avLst>
              <a:gd name="adj" fmla="val 14706"/>
            </a:avLst>
          </a:prstGeom>
          <a:solidFill>
            <a:srgbClr val="1C3159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103120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9808" y="2464308"/>
            <a:ext cx="2185416" cy="310896"/>
          </a:xfrm>
          <a:prstGeom prst="roundRect">
            <a:avLst>
              <a:gd name="adj" fmla="val 14706"/>
            </a:avLst>
          </a:prstGeom>
          <a:solidFill>
            <a:srgbClr val="1C3159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464308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Jaipur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49808" y="2825496"/>
            <a:ext cx="2185416" cy="310896"/>
          </a:xfrm>
          <a:prstGeom prst="roundRect">
            <a:avLst>
              <a:gd name="adj" fmla="val 14706"/>
            </a:avLst>
          </a:prstGeom>
          <a:solidFill>
            <a:srgbClr val="1C3159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825496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Ludhiana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9808" y="3186684"/>
            <a:ext cx="2185416" cy="310896"/>
          </a:xfrm>
          <a:prstGeom prst="roundRect">
            <a:avLst>
              <a:gd name="adj" fmla="val 14706"/>
            </a:avLst>
          </a:prstGeom>
          <a:solidFill>
            <a:srgbClr val="1C3159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186684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319272" y="1280160"/>
            <a:ext cx="2587752" cy="3017520"/>
          </a:xfrm>
          <a:prstGeom prst="roundRect">
            <a:avLst>
              <a:gd name="adj" fmla="val 2827"/>
            </a:avLst>
          </a:prstGeom>
          <a:solidFill>
            <a:srgbClr val="16294C"/>
          </a:solidFill>
          <a:ln/>
          <a:effectLst>
            <a:outerShdw blurRad="1016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520440" y="1481328"/>
            <a:ext cx="128016" cy="128016"/>
          </a:xfrm>
          <a:prstGeom prst="ellipse">
            <a:avLst/>
          </a:prstGeom>
          <a:solidFill>
            <a:srgbClr val="EB8A6F"/>
          </a:solidFill>
          <a:ln/>
        </p:spPr>
      </p:sp>
      <p:sp>
        <p:nvSpPr>
          <p:cNvPr id="18" name="Text 16"/>
          <p:cNvSpPr/>
          <p:nvPr/>
        </p:nvSpPr>
        <p:spPr>
          <a:xfrm>
            <a:off x="3730752" y="1417320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· MID-FRICTION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20440" y="1737360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8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rate 50–59%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20440" y="2103120"/>
            <a:ext cx="1046988" cy="310896"/>
          </a:xfrm>
          <a:prstGeom prst="roundRect">
            <a:avLst>
              <a:gd name="adj" fmla="val 14706"/>
            </a:avLst>
          </a:prstGeom>
          <a:solidFill>
            <a:srgbClr val="1C3159"/>
          </a:solidFill>
          <a:ln/>
        </p:spPr>
      </p:sp>
      <p:sp>
        <p:nvSpPr>
          <p:cNvPr id="21" name="Text 19"/>
          <p:cNvSpPr/>
          <p:nvPr/>
        </p:nvSpPr>
        <p:spPr>
          <a:xfrm>
            <a:off x="3611880" y="2103120"/>
            <a:ext cx="909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Indore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58868" y="2103120"/>
            <a:ext cx="1046988" cy="310896"/>
          </a:xfrm>
          <a:prstGeom prst="roundRect">
            <a:avLst>
              <a:gd name="adj" fmla="val 14706"/>
            </a:avLst>
          </a:prstGeom>
          <a:solidFill>
            <a:srgbClr val="1C3159"/>
          </a:solidFill>
          <a:ln/>
        </p:spPr>
      </p:sp>
      <p:sp>
        <p:nvSpPr>
          <p:cNvPr id="23" name="Text 21"/>
          <p:cNvSpPr/>
          <p:nvPr/>
        </p:nvSpPr>
        <p:spPr>
          <a:xfrm>
            <a:off x="4750308" y="2103120"/>
            <a:ext cx="909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Lucknow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520440" y="2487168"/>
            <a:ext cx="1046988" cy="310896"/>
          </a:xfrm>
          <a:prstGeom prst="roundRect">
            <a:avLst>
              <a:gd name="adj" fmla="val 14706"/>
            </a:avLst>
          </a:prstGeom>
          <a:solidFill>
            <a:srgbClr val="1C3159"/>
          </a:solidFill>
          <a:ln/>
        </p:spPr>
      </p:sp>
      <p:sp>
        <p:nvSpPr>
          <p:cNvPr id="25" name="Text 23"/>
          <p:cNvSpPr/>
          <p:nvPr/>
        </p:nvSpPr>
        <p:spPr>
          <a:xfrm>
            <a:off x="3611880" y="2487168"/>
            <a:ext cx="909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Chandigarh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58868" y="2487168"/>
            <a:ext cx="1046988" cy="310896"/>
          </a:xfrm>
          <a:prstGeom prst="roundRect">
            <a:avLst>
              <a:gd name="adj" fmla="val 14706"/>
            </a:avLst>
          </a:prstGeom>
          <a:solidFill>
            <a:srgbClr val="1C3159"/>
          </a:solidFill>
          <a:ln/>
        </p:spPr>
      </p:sp>
      <p:sp>
        <p:nvSpPr>
          <p:cNvPr id="27" name="Text 25"/>
          <p:cNvSpPr/>
          <p:nvPr/>
        </p:nvSpPr>
        <p:spPr>
          <a:xfrm>
            <a:off x="4750308" y="2487168"/>
            <a:ext cx="909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Patna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520440" y="2871216"/>
            <a:ext cx="1046988" cy="310896"/>
          </a:xfrm>
          <a:prstGeom prst="roundRect">
            <a:avLst>
              <a:gd name="adj" fmla="val 14706"/>
            </a:avLst>
          </a:prstGeom>
          <a:solidFill>
            <a:srgbClr val="1C3159"/>
          </a:solidFill>
          <a:ln/>
        </p:spPr>
      </p:sp>
      <p:sp>
        <p:nvSpPr>
          <p:cNvPr id="29" name="Text 27"/>
          <p:cNvSpPr/>
          <p:nvPr/>
        </p:nvSpPr>
        <p:spPr>
          <a:xfrm>
            <a:off x="3611880" y="2871216"/>
            <a:ext cx="909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Kochi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58868" y="2871216"/>
            <a:ext cx="1046988" cy="310896"/>
          </a:xfrm>
          <a:prstGeom prst="roundRect">
            <a:avLst>
              <a:gd name="adj" fmla="val 14706"/>
            </a:avLst>
          </a:prstGeom>
          <a:solidFill>
            <a:srgbClr val="1C3159"/>
          </a:solidFill>
          <a:ln/>
        </p:spPr>
      </p:sp>
      <p:sp>
        <p:nvSpPr>
          <p:cNvPr id="31" name="Text 29"/>
          <p:cNvSpPr/>
          <p:nvPr/>
        </p:nvSpPr>
        <p:spPr>
          <a:xfrm>
            <a:off x="4750308" y="2871216"/>
            <a:ext cx="909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Vadodara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520440" y="3255264"/>
            <a:ext cx="1046988" cy="310896"/>
          </a:xfrm>
          <a:prstGeom prst="roundRect">
            <a:avLst>
              <a:gd name="adj" fmla="val 14706"/>
            </a:avLst>
          </a:prstGeom>
          <a:solidFill>
            <a:srgbClr val="1C3159"/>
          </a:solidFill>
          <a:ln/>
        </p:spPr>
      </p:sp>
      <p:sp>
        <p:nvSpPr>
          <p:cNvPr id="33" name="Text 31"/>
          <p:cNvSpPr/>
          <p:nvPr/>
        </p:nvSpPr>
        <p:spPr>
          <a:xfrm>
            <a:off x="3611880" y="3255264"/>
            <a:ext cx="909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Ahmedabad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58868" y="3255264"/>
            <a:ext cx="1046988" cy="310896"/>
          </a:xfrm>
          <a:prstGeom prst="roundRect">
            <a:avLst>
              <a:gd name="adj" fmla="val 14706"/>
            </a:avLst>
          </a:prstGeom>
          <a:solidFill>
            <a:srgbClr val="1C3159"/>
          </a:solidFill>
          <a:ln/>
        </p:spPr>
      </p:sp>
      <p:sp>
        <p:nvSpPr>
          <p:cNvPr id="35" name="Text 33"/>
          <p:cNvSpPr/>
          <p:nvPr/>
        </p:nvSpPr>
        <p:spPr>
          <a:xfrm>
            <a:off x="4750308" y="3255264"/>
            <a:ext cx="909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Kolkata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089904" y="1280160"/>
            <a:ext cx="2587752" cy="3017520"/>
          </a:xfrm>
          <a:prstGeom prst="roundRect">
            <a:avLst>
              <a:gd name="adj" fmla="val 2827"/>
            </a:avLst>
          </a:prstGeom>
          <a:solidFill>
            <a:srgbClr val="16294C"/>
          </a:solidFill>
          <a:ln/>
          <a:effectLst>
            <a:outerShdw blurRad="101600" dist="38100" dir="54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91072" y="1481328"/>
            <a:ext cx="128016" cy="128016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38" name="Text 36"/>
          <p:cNvSpPr/>
          <p:nvPr/>
        </p:nvSpPr>
        <p:spPr>
          <a:xfrm>
            <a:off x="6501384" y="1417320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LOW-FRICTION · SATURATED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91072" y="1737360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8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rate &lt; 50%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91072" y="2103120"/>
            <a:ext cx="1046988" cy="310896"/>
          </a:xfrm>
          <a:prstGeom prst="roundRect">
            <a:avLst>
              <a:gd name="adj" fmla="val 14706"/>
            </a:avLst>
          </a:prstGeom>
          <a:solidFill>
            <a:srgbClr val="1C3159"/>
          </a:solidFill>
          <a:ln/>
        </p:spPr>
      </p:sp>
      <p:sp>
        <p:nvSpPr>
          <p:cNvPr id="41" name="Text 39"/>
          <p:cNvSpPr/>
          <p:nvPr/>
        </p:nvSpPr>
        <p:spPr>
          <a:xfrm>
            <a:off x="6382512" y="2103120"/>
            <a:ext cx="909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Chennai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429500" y="2103120"/>
            <a:ext cx="1046988" cy="310896"/>
          </a:xfrm>
          <a:prstGeom prst="roundRect">
            <a:avLst>
              <a:gd name="adj" fmla="val 14706"/>
            </a:avLst>
          </a:prstGeom>
          <a:solidFill>
            <a:srgbClr val="1C3159"/>
          </a:solidFill>
          <a:ln/>
        </p:spPr>
      </p:sp>
      <p:sp>
        <p:nvSpPr>
          <p:cNvPr id="43" name="Text 41"/>
          <p:cNvSpPr/>
          <p:nvPr/>
        </p:nvSpPr>
        <p:spPr>
          <a:xfrm>
            <a:off x="7520940" y="2103120"/>
            <a:ext cx="909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91072" y="2487168"/>
            <a:ext cx="1046988" cy="310896"/>
          </a:xfrm>
          <a:prstGeom prst="roundRect">
            <a:avLst>
              <a:gd name="adj" fmla="val 14706"/>
            </a:avLst>
          </a:prstGeom>
          <a:solidFill>
            <a:srgbClr val="1C3159"/>
          </a:solidFill>
          <a:ln/>
        </p:spPr>
      </p:sp>
      <p:sp>
        <p:nvSpPr>
          <p:cNvPr id="45" name="Text 43"/>
          <p:cNvSpPr/>
          <p:nvPr/>
        </p:nvSpPr>
        <p:spPr>
          <a:xfrm>
            <a:off x="6382512" y="2487168"/>
            <a:ext cx="909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Gurugram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7429500" y="2487168"/>
            <a:ext cx="1046988" cy="310896"/>
          </a:xfrm>
          <a:prstGeom prst="roundRect">
            <a:avLst>
              <a:gd name="adj" fmla="val 14706"/>
            </a:avLst>
          </a:prstGeom>
          <a:solidFill>
            <a:srgbClr val="1C3159"/>
          </a:solidFill>
          <a:ln/>
        </p:spPr>
      </p:sp>
      <p:sp>
        <p:nvSpPr>
          <p:cNvPr id="47" name="Text 45"/>
          <p:cNvSpPr/>
          <p:nvPr/>
        </p:nvSpPr>
        <p:spPr>
          <a:xfrm>
            <a:off x="7520940" y="2487168"/>
            <a:ext cx="909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291072" y="2871216"/>
            <a:ext cx="1046988" cy="310896"/>
          </a:xfrm>
          <a:prstGeom prst="roundRect">
            <a:avLst>
              <a:gd name="adj" fmla="val 14706"/>
            </a:avLst>
          </a:prstGeom>
          <a:solidFill>
            <a:srgbClr val="1C3159"/>
          </a:solidFill>
          <a:ln/>
        </p:spPr>
      </p:sp>
      <p:sp>
        <p:nvSpPr>
          <p:cNvPr id="49" name="Text 47"/>
          <p:cNvSpPr/>
          <p:nvPr/>
        </p:nvSpPr>
        <p:spPr>
          <a:xfrm>
            <a:off x="6382512" y="2871216"/>
            <a:ext cx="909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429500" y="2871216"/>
            <a:ext cx="1046988" cy="310896"/>
          </a:xfrm>
          <a:prstGeom prst="roundRect">
            <a:avLst>
              <a:gd name="adj" fmla="val 14706"/>
            </a:avLst>
          </a:prstGeom>
          <a:solidFill>
            <a:srgbClr val="1C3159"/>
          </a:solidFill>
          <a:ln/>
        </p:spPr>
      </p:sp>
      <p:sp>
        <p:nvSpPr>
          <p:cNvPr id="51" name="Text 49"/>
          <p:cNvSpPr/>
          <p:nvPr/>
        </p:nvSpPr>
        <p:spPr>
          <a:xfrm>
            <a:off x="7520940" y="2871216"/>
            <a:ext cx="9098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48640" y="449884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EB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Assessment:  </a:t>
            </a:r>
            <a:r>
              <a:rPr lang="en-US" sz="95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agency pipelines on Tier 1 and Tier 2 hubs — Surat, Jaipur, Ludhiana and peers carry massive brick-and-mortar volume with severe digital stagnation, versus hyper-saturated hubs like Bengaluru or Mumbai.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57200" y="488289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C8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HYPERLOCAL MARKET INTELLIGENCE REPORT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229600" y="488289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8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Vertical Stagnation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Category-Wise Digital Deficit — % of Businesses with No Website (Min. 5 businesses/category)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20040" y="1078992"/>
          <a:ext cx="850392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59028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EB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r>
              <a:rPr lang="en-US" sz="95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Restaurant-heavy and trust/scheduling-based categories (cuisine-specific dining, pharmacies, salons, food courts) show the widest digital deficits — leaking high-intent local search traffic to aggregators and corporate franchises.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57200" y="488289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C8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HYPERLOCAL MARKET INTELLIGENCE REPORT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488289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8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High-Intent Lead Generation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1 — Established Invisibles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8229600" cy="365760"/>
          </a:xfrm>
          <a:prstGeom prst="roundRect">
            <a:avLst>
              <a:gd name="adj" fmla="val 12500"/>
            </a:avLst>
          </a:prstGeom>
          <a:solidFill>
            <a:srgbClr val="1C3159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96926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B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Focus: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reviews  ·  Rating ≥ 4.0★  ·  No independent website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26464"/>
          <a:ext cx="8229600" cy="2876698"/>
        </p:xfrm>
        <a:graphic>
          <a:graphicData uri="http://schemas.openxmlformats.org/drawingml/2006/table">
            <a:tbl>
              <a:tblPr/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15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9FB0CE"/>
                          </a:solidFill>
                        </a:rPr>
                        <a:t>BUSINESS NAME</a:t>
                      </a:r>
                      <a:endParaRPr lang="en-US" sz="9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1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9FB0CE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1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FB0CE"/>
                          </a:solidFill>
                        </a:rPr>
                        <a:t>RATING</a:t>
                      </a:r>
                      <a:endParaRPr lang="en-US" sz="9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1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FB0CE"/>
                          </a:solidFill>
                        </a:rPr>
                        <a:t>REVIEWS</a:t>
                      </a:r>
                      <a:endParaRPr lang="en-US" sz="9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1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9FB0CE"/>
                          </a:solidFill>
                        </a:rPr>
                        <a:t>CITY</a:t>
                      </a:r>
                      <a:endParaRPr lang="en-US" sz="9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1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Milan A Speciality Restaurant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Restaurant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CC71"/>
                          </a:solidFill>
                        </a:rPr>
                        <a:t>4.8★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16317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Lucknow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JP Honda Sitapur Road (Daliganj)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Honda Dealer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CC71"/>
                          </a:solidFill>
                        </a:rPr>
                        <a:t>4.8★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6944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Lucknow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ISIRI Resto Bar - Theme Restaurant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Bar &amp; Grill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CC71"/>
                          </a:solidFill>
                        </a:rPr>
                        <a:t>4.5★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12128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Bengaluru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Sharma Ji Ki Chai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Restaurant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CC71"/>
                          </a:solidFill>
                        </a:rPr>
                        <a:t>4.1★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29720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Lucknow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R fitness Gym &amp; Swimming Pool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Fitness Center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CC71"/>
                          </a:solidFill>
                        </a:rPr>
                        <a:t>4.8★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6444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Chandigarh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Mocambo Restaurant and Bar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Continental Restaurant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CC71"/>
                          </a:solidFill>
                        </a:rPr>
                        <a:t>4.3★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17094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Kolkata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Tilak Nagar Market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Clothing Store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CC71"/>
                          </a:solidFill>
                        </a:rPr>
                        <a:t>4.1★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27275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Delhi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Amar Palace Chikan Hazratganj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Designer Clothing Store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CC71"/>
                          </a:solidFill>
                        </a:rPr>
                        <a:t>4.4★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10252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Lucknow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German Bakery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Cafe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CC71"/>
                          </a:solidFill>
                        </a:rPr>
                        <a:t>4.2★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14354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Pune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J Hearsch &amp; Co.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Bakery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CC71"/>
                          </a:solidFill>
                        </a:rPr>
                        <a:t>4.3★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11235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Mumbai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EB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Concept:  </a:t>
            </a:r>
            <a:r>
              <a:rPr lang="en-US" sz="10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that have already unlocked product-market fit and local cash flow offline — premium agency prospects for comprehensive site engagements.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88289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C8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HYPERLOCAL MARKET INTELLIGENCE REPORT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488289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8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High-Intent Lead Generation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2 — Rising Stars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969264"/>
            <a:ext cx="8229600" cy="365760"/>
          </a:xfrm>
          <a:prstGeom prst="roundRect">
            <a:avLst>
              <a:gd name="adj" fmla="val 12500"/>
            </a:avLst>
          </a:prstGeom>
          <a:solidFill>
            <a:srgbClr val="1C3159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96926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B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Focus: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10–49 reviews  ·  Rating ≥ 4.5★  ·  No independent website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26464"/>
          <a:ext cx="8229600" cy="2876698"/>
        </p:xfrm>
        <a:graphic>
          <a:graphicData uri="http://schemas.openxmlformats.org/drawingml/2006/table">
            <a:tbl>
              <a:tblPr/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15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9FB0CE"/>
                          </a:solidFill>
                        </a:rPr>
                        <a:t>BUSINESS NAME</a:t>
                      </a:r>
                      <a:endParaRPr lang="en-US" sz="9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1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9FB0CE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1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FB0CE"/>
                          </a:solidFill>
                        </a:rPr>
                        <a:t>RATING</a:t>
                      </a:r>
                      <a:endParaRPr lang="en-US" sz="9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1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9FB0CE"/>
                          </a:solidFill>
                        </a:rPr>
                        <a:t>REVIEWS</a:t>
                      </a:r>
                      <a:endParaRPr lang="en-US" sz="9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1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9FB0CE"/>
                          </a:solidFill>
                        </a:rPr>
                        <a:t>CITY</a:t>
                      </a:r>
                      <a:endParaRPr lang="en-US" sz="9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1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Sandy Brothers Saloon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Hair Salon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CC71"/>
                          </a:solidFill>
                        </a:rPr>
                        <a:t>5.0★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49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Patna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Adi's Carryout Food Corner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Restaurant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CC71"/>
                          </a:solidFill>
                        </a:rPr>
                        <a:t>5.0★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48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Jaipur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Shanmuka Pharmacy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Pharmacy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CC71"/>
                          </a:solidFill>
                        </a:rPr>
                        <a:t>5.0★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47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Hyderabad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Moh Pharmacy: Online Pharamcy: Home Delivery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Pharmacy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CC71"/>
                          </a:solidFill>
                        </a:rPr>
                        <a:t>5.0★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47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Lucknow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BodyLab Gym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Gym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CC71"/>
                          </a:solidFill>
                        </a:rPr>
                        <a:t>5.0★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46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Jaipur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Van Heusen Company Outlet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Clothing Store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CC71"/>
                          </a:solidFill>
                        </a:rPr>
                        <a:t>5.0★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46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Patna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Red Wine Luxury Spa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Spa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CC71"/>
                          </a:solidFill>
                        </a:rPr>
                        <a:t>4.9★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49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Chandigarh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D C S Original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Men'S Clothing Store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CC71"/>
                          </a:solidFill>
                        </a:rPr>
                        <a:t>4.9★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49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Delhi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Cream N Crumbs By Dakshata Jain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Bakery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CC71"/>
                          </a:solidFill>
                        </a:rPr>
                        <a:t>5.0★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45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Ahmedabad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15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FFFFF"/>
                          </a:solidFill>
                        </a:rPr>
                        <a:t>LIFE CURE PHARMACY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Pharmacy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2ECC71"/>
                          </a:solidFill>
                        </a:rPr>
                        <a:t>5.0★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45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FB0CE"/>
                          </a:solidFill>
                        </a:rPr>
                        <a:t>Ahmedabad</a:t>
                      </a:r>
                      <a:endParaRPr lang="en-US" sz="9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40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EB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Concept:  </a:t>
            </a:r>
            <a:r>
              <a:rPr lang="en-US" sz="10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Agile, rapidly growing boutique operations with exceptional customer satisfaction — ideal targets for simple landing-page entry packages.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88289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C8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HYPERLOCAL MARKET INTELLIGENCE REPORT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488289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8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Go-To-Market Tactical Solutions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Core Pillars for Agency Outreach &amp; Conversion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8138160" cy="960120"/>
          </a:xfrm>
          <a:prstGeom prst="roundRect">
            <a:avLst>
              <a:gd name="adj" fmla="val 7619"/>
            </a:avLst>
          </a:prstGeom>
          <a:solidFill>
            <a:srgbClr val="16294C"/>
          </a:solidFill>
          <a:ln/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36776"/>
            <a:ext cx="530352" cy="530352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367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C1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53619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Loss-Leader Foot-in-the-Door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08760" y="1837944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low-friction single-page landing pages or quick scheduling widgets first, then upsell to comprehensive site architectures.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532888"/>
            <a:ext cx="8138160" cy="960120"/>
          </a:xfrm>
          <a:prstGeom prst="roundRect">
            <a:avLst>
              <a:gd name="adj" fmla="val 7619"/>
            </a:avLst>
          </a:prstGeom>
          <a:solidFill>
            <a:srgbClr val="16294C"/>
          </a:solidFill>
          <a:ln/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752344"/>
            <a:ext cx="530352" cy="530352"/>
          </a:xfrm>
          <a:prstGeom prst="ellipse">
            <a:avLst/>
          </a:prstGeom>
          <a:solidFill>
            <a:srgbClr val="EB8A6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523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C1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08760" y="2651760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 Lever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508760" y="2953512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existing high Google Maps review volumes as leverage — live review API feeds on an owned domain drastically boost local search authority.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648456"/>
            <a:ext cx="8138160" cy="960120"/>
          </a:xfrm>
          <a:prstGeom prst="roundRect">
            <a:avLst>
              <a:gd name="adj" fmla="val 7619"/>
            </a:avLst>
          </a:prstGeom>
          <a:solidFill>
            <a:srgbClr val="16294C"/>
          </a:solidFill>
          <a:ln/>
          <a:effectLst>
            <a:outerShdw blurRad="101600" dist="381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867912"/>
            <a:ext cx="530352" cy="530352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8679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C1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376732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Value-Based Framing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508760" y="4069080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the minor monthly cost of a web deployment asset against the heavy ongoing revenue losses to nearby online-optimized competitors.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8289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C8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HYPERLOCAL MARKET INTELLIGENCE REPORT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229600" y="488289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8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Deliverables Summary &amp; Next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B8A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Check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138160" cy="777240"/>
          </a:xfrm>
          <a:prstGeom prst="roundRect">
            <a:avLst>
              <a:gd name="adj" fmla="val 8235"/>
            </a:avLst>
          </a:prstGeom>
          <a:solidFill>
            <a:srgbClr val="16294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517904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37160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21-City Matrix Dataset compiled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88720" y="168249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81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master_market_analysis.csv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48640" y="2194560"/>
            <a:ext cx="8138160" cy="777240"/>
          </a:xfrm>
          <a:prstGeom prst="roundRect">
            <a:avLst>
              <a:gd name="adj" fmla="val 8235"/>
            </a:avLst>
          </a:prstGeom>
          <a:solidFill>
            <a:srgbClr val="16294C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432304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28600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Dashboard complete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188720" y="259689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81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01_overall_digital_presence.png · 02_city_opportunity_zones.png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548640" y="3108960"/>
            <a:ext cx="8138160" cy="777240"/>
          </a:xfrm>
          <a:prstGeom prst="roundRect">
            <a:avLst>
              <a:gd name="adj" fmla="val 8235"/>
            </a:avLst>
          </a:prstGeom>
          <a:solidFill>
            <a:srgbClr val="16294C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346704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320040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 Target Lead Sheets extracted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188720" y="351129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81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top_10_established_opportunities.csv · top_10_rising_stars_opportunities.csv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548640" y="4023360"/>
            <a:ext cx="8138160" cy="777240"/>
          </a:xfrm>
          <a:prstGeom prst="roundRect">
            <a:avLst>
              <a:gd name="adj" fmla="val 9412"/>
            </a:avLst>
          </a:prstGeom>
          <a:solidFill>
            <a:srgbClr val="1F9C57"/>
          </a:solidFill>
          <a:ln/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224528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402336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Item:  </a:t>
            </a:r>
            <a:r>
              <a:rPr lang="en-US" sz="1250" dirty="0">
                <a:solidFill>
                  <a:srgbClr val="EA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 structured email / cold-call B2B outreach utilizing the extracted high-priority CSV files.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457200" y="488289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C8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HYPERLOCAL MARKET INTELLIGENCE REPORT</a:t>
            </a:r>
            <a:endParaRPr lang="en-US" sz="800" dirty="0"/>
          </a:p>
        </p:txBody>
      </p:sp>
      <p:sp>
        <p:nvSpPr>
          <p:cNvPr id="20" name="Text 14"/>
          <p:cNvSpPr/>
          <p:nvPr/>
        </p:nvSpPr>
        <p:spPr>
          <a:xfrm>
            <a:off x="8229600" y="488289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8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772</Words>
  <Application>Microsoft Office PowerPoint</Application>
  <PresentationFormat>On-screen Show (16:9)</PresentationFormat>
  <Paragraphs>207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 Hyperlocal Market Intelligence Report</dc:title>
  <dc:subject>PptxGenJS Presentation</dc:subject>
  <dc:creator>Market Intelligence</dc:creator>
  <cp:lastModifiedBy>Evil Dead</cp:lastModifiedBy>
  <cp:revision>1</cp:revision>
  <dcterms:created xsi:type="dcterms:W3CDTF">2026-07-03T11:03:10Z</dcterms:created>
  <dcterms:modified xsi:type="dcterms:W3CDTF">2026-07-03T11:05:39Z</dcterms:modified>
</cp:coreProperties>
</file>